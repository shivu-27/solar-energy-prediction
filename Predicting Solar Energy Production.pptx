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IN" dirty="0"/>
              <a:t>Predicting Solar Energy Production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/>
              <a:t>                                                         By</a:t>
            </a:r>
            <a:r>
              <a:rPr lang="en-US" dirty="0"/>
              <a:t>: </a:t>
            </a:r>
            <a:r>
              <a:rPr lang="en-US" dirty="0" err="1"/>
              <a:t>sivagami</a:t>
            </a:r>
            <a:r>
              <a:rPr lang="en-US" dirty="0"/>
              <a:t> 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1A6E-100E-D399-3A75-5A976AD0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972"/>
          </a:xfrm>
        </p:spPr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0C6461-3AE3-53A7-52E1-19D22E838B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869" y="1811782"/>
            <a:ext cx="1085504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solar energy production (kWh)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new projects.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/>
              <a:t>Streamlined Project Planning: The model will estimate annual energy output for future solar projects, resulting in more accurate financial models, improved project feasibility assessments, and faster project development cycles.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Use-case: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customers choose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developer, equipment, and region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maximize </a:t>
            </a:r>
            <a:r>
              <a:rPr lang="en-US" altLang="en-US" sz="1800" dirty="0">
                <a:latin typeface="Arial" panose="020B0604020202020204" pitchFamily="34" charset="0"/>
              </a:rPr>
              <a:t>Return on investment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sz="1800" b="1" dirty="0"/>
              <a:t>Target Variable:</a:t>
            </a:r>
            <a:r>
              <a:rPr lang="en-US" sz="1800" dirty="0"/>
              <a:t> </a:t>
            </a:r>
            <a:r>
              <a:rPr lang="en-US" dirty="0"/>
              <a:t>Estimated Annual PV Energy Production (kWh)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09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852C-ECE0-0B31-386A-4AF087E2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Data Understanding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CD24-459F-C79B-A49A-9F2A9FC69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Size:</a:t>
            </a:r>
            <a:r>
              <a:rPr lang="en-IN" dirty="0"/>
              <a:t> ~218k rows × 17 columns.</a:t>
            </a:r>
          </a:p>
          <a:p>
            <a:r>
              <a:rPr lang="en-IN" b="1" dirty="0"/>
              <a:t>Key Inputs:</a:t>
            </a:r>
            <a:endParaRPr lang="en-IN" dirty="0"/>
          </a:p>
          <a:p>
            <a:pPr lvl="1"/>
            <a:r>
              <a:rPr lang="en-IN" b="1" dirty="0"/>
              <a:t>Project details:</a:t>
            </a:r>
            <a:r>
              <a:rPr lang="en-IN" dirty="0"/>
              <a:t> Project ID, Interconnection Date, Developer, Utility, Metering Method.</a:t>
            </a:r>
          </a:p>
          <a:p>
            <a:pPr lvl="1"/>
            <a:r>
              <a:rPr lang="en-IN" b="1" dirty="0"/>
              <a:t>Location:</a:t>
            </a:r>
            <a:r>
              <a:rPr lang="en-IN" dirty="0"/>
              <a:t> City/Town, County, Zip, Division, Substation, Circuit ID.</a:t>
            </a:r>
          </a:p>
          <a:p>
            <a:pPr lvl="1"/>
            <a:r>
              <a:rPr lang="en-IN" b="1" dirty="0"/>
              <a:t>System Specs:</a:t>
            </a:r>
            <a:r>
              <a:rPr lang="en-IN" dirty="0"/>
              <a:t> Estimated PV System Size (</a:t>
            </a:r>
            <a:r>
              <a:rPr lang="en-IN" dirty="0" err="1"/>
              <a:t>kWdc</a:t>
            </a:r>
            <a:r>
              <a:rPr lang="en-IN" dirty="0"/>
              <a:t>), PV System Size (</a:t>
            </a:r>
            <a:r>
              <a:rPr lang="en-IN" dirty="0" err="1"/>
              <a:t>kWac</a:t>
            </a:r>
            <a:r>
              <a:rPr lang="en-IN" dirty="0"/>
              <a:t>), Energy Storage Size.</a:t>
            </a:r>
          </a:p>
          <a:p>
            <a:pPr lvl="1"/>
            <a:r>
              <a:rPr lang="en-IN" b="1" dirty="0"/>
              <a:t>Target:</a:t>
            </a:r>
            <a:r>
              <a:rPr lang="en-IN" dirty="0"/>
              <a:t> Estimated Annual PV Energy Production (kWh).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0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4138-6498-B8FC-C0F8-491FC5F5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Data Issues: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45574-E30A-B8D7-5257-0E336BCBD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values (Division, Substation, Developer, Energy Storage almost empty).</a:t>
            </a:r>
          </a:p>
          <a:p>
            <a:r>
              <a:rPr lang="en-US" dirty="0"/>
              <a:t>Strong skew (small residential → huge utility projects).</a:t>
            </a:r>
          </a:p>
          <a:p>
            <a:r>
              <a:rPr lang="en-US" dirty="0"/>
              <a:t>Mixed categorical and numeric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19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2A0D-0ED2-00EC-5D39-EDDD4998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AB354-8C9E-5BF6-763B-4A6B5A9C8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Dropped high missing columns(</a:t>
            </a:r>
            <a:r>
              <a:rPr lang="en-US" dirty="0" err="1"/>
              <a:t>division,substation,energy</a:t>
            </a:r>
            <a:r>
              <a:rPr lang="en-US" dirty="0"/>
              <a:t> storage system size(</a:t>
            </a:r>
            <a:r>
              <a:rPr lang="en-US" dirty="0" err="1"/>
              <a:t>kwac</a:t>
            </a:r>
            <a:r>
              <a:rPr lang="en-US" dirty="0"/>
              <a:t>))</a:t>
            </a:r>
          </a:p>
          <a:p>
            <a:r>
              <a:rPr lang="en-US" dirty="0"/>
              <a:t>Filled categorical columns with “unknown”(developer, metering method, city/</a:t>
            </a:r>
            <a:r>
              <a:rPr lang="en-US" dirty="0" err="1"/>
              <a:t>town,country,utility</a:t>
            </a:r>
            <a:r>
              <a:rPr lang="en-US" dirty="0"/>
              <a:t>)</a:t>
            </a:r>
          </a:p>
          <a:p>
            <a:r>
              <a:rPr lang="en-US" dirty="0"/>
              <a:t>Filled numeric values with median(zip) and mode(circuit ID, project ID)</a:t>
            </a:r>
          </a:p>
          <a:p>
            <a:r>
              <a:rPr lang="en-US" dirty="0"/>
              <a:t>Converted date columns to datetime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62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499D-DFB1-62C4-1B37-7D2B3283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outliers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F23A6-633F-701C-65A0-6FFEA10D4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Checked for outliers</a:t>
            </a:r>
          </a:p>
          <a:p>
            <a:r>
              <a:rPr lang="en-US" dirty="0"/>
              <a:t>Removed outliers with IQR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23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D8C0-8A28-D9A7-794B-DC2778612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0722"/>
          </a:xfrm>
        </p:spPr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65EE8-563A-9CB4-1645-C5230A623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1539240"/>
            <a:ext cx="10087291" cy="4251961"/>
          </a:xfrm>
        </p:spPr>
        <p:txBody>
          <a:bodyPr>
            <a:normAutofit/>
          </a:bodyPr>
          <a:lstStyle/>
          <a:p>
            <a:r>
              <a:rPr lang="en-US" sz="1800" dirty="0"/>
              <a:t>Converted and Extracted Time Features(Older systems may degrade; newer installations might use better technology.)</a:t>
            </a:r>
          </a:p>
          <a:p>
            <a:r>
              <a:rPr lang="en-IN" sz="1800" dirty="0"/>
              <a:t>Created Solar Efficiency Metrics</a:t>
            </a:r>
          </a:p>
          <a:p>
            <a:pPr marL="0" indent="0">
              <a:buNone/>
            </a:pPr>
            <a:r>
              <a:rPr lang="en-IN" sz="1800" dirty="0"/>
              <a:t>            Performance Ratio / Yield(</a:t>
            </a:r>
            <a:r>
              <a:rPr lang="en-US" sz="1800" dirty="0"/>
              <a:t>This shows how much energy (kWh) is    produced per installed kW. Typical values: </a:t>
            </a:r>
            <a:r>
              <a:rPr lang="en-US" sz="1800" b="1" dirty="0"/>
              <a:t>800–1600 kWh/kW/year</a:t>
            </a:r>
            <a:r>
              <a:rPr lang="en-US" sz="1800" dirty="0"/>
              <a:t>.)</a:t>
            </a:r>
            <a:br>
              <a:rPr lang="en-US" sz="1800" dirty="0"/>
            </a:br>
            <a:r>
              <a:rPr lang="en-US" sz="1800" dirty="0"/>
              <a:t>           </a:t>
            </a:r>
            <a:r>
              <a:rPr lang="en-IN" sz="1800" dirty="0"/>
              <a:t>Capacity Factor(</a:t>
            </a:r>
            <a:r>
              <a:rPr lang="en-US" sz="1800" dirty="0"/>
              <a:t> Capacity Factor represents the real-world utilization efficiency of the solar system (normally </a:t>
            </a:r>
            <a:r>
              <a:rPr lang="en-US" sz="1800" b="1" dirty="0"/>
              <a:t>10–25%</a:t>
            </a:r>
            <a:r>
              <a:rPr lang="en-US" sz="1800" dirty="0"/>
              <a:t>).)</a:t>
            </a:r>
          </a:p>
          <a:p>
            <a:pPr marL="0" indent="0">
              <a:buNone/>
            </a:pPr>
            <a:r>
              <a:rPr lang="en-IN" sz="1800" dirty="0"/>
              <a:t>Log Transformation of Skewed Variables</a:t>
            </a:r>
          </a:p>
          <a:p>
            <a:pPr marL="0" indent="0">
              <a:buNone/>
            </a:pPr>
            <a:r>
              <a:rPr lang="en-IN" sz="1800" dirty="0"/>
              <a:t>Encoded Categorical Variables</a:t>
            </a:r>
          </a:p>
          <a:p>
            <a:pPr marL="0" indent="0">
              <a:buNone/>
            </a:pPr>
            <a:r>
              <a:rPr lang="en-IN" sz="1800" dirty="0"/>
              <a:t>Included system scale column-</a:t>
            </a:r>
            <a:r>
              <a:rPr lang="en-US" sz="1800" dirty="0"/>
              <a:t> differentiate between residential and utility-scale systems.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3157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53A8-7561-16E1-8FD0-513FAE71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F332-01D2-58B9-1080-7EC46392E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test split</a:t>
            </a:r>
          </a:p>
          <a:p>
            <a:r>
              <a:rPr lang="en-US" dirty="0"/>
              <a:t>Baseline </a:t>
            </a:r>
            <a:r>
              <a:rPr lang="en-US" dirty="0" err="1"/>
              <a:t>modell</a:t>
            </a:r>
            <a:r>
              <a:rPr lang="en-US" dirty="0"/>
              <a:t>- Linear Regression</a:t>
            </a:r>
          </a:p>
          <a:p>
            <a:r>
              <a:rPr lang="en-US" dirty="0"/>
              <a:t>Tuned model- Decision tree, Randon forest</a:t>
            </a:r>
          </a:p>
          <a:p>
            <a:r>
              <a:rPr lang="en-US" dirty="0"/>
              <a:t>Best model: </a:t>
            </a:r>
            <a:r>
              <a:rPr lang="en-IN" dirty="0"/>
              <a:t>Decision Tree[ R2-1.0 ][MAE-0.486255]</a:t>
            </a:r>
          </a:p>
        </p:txBody>
      </p:sp>
    </p:spTree>
    <p:extLst>
      <p:ext uri="{BB962C8B-B14F-4D97-AF65-F5344CB8AC3E}">
        <p14:creationId xmlns:p14="http://schemas.microsoft.com/office/powerpoint/2010/main" val="204163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E2BB-8A69-41CB-A5F0-8790FBBE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926EBD-E88F-6E80-B1D3-C5136C501C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3327846"/>
            <a:ext cx="967284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size is the strongest predictor.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developers consistently achieve higher yields.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regions outperform others due to higher irradiance.</a:t>
            </a:r>
          </a:p>
        </p:txBody>
      </p:sp>
    </p:spTree>
    <p:extLst>
      <p:ext uri="{BB962C8B-B14F-4D97-AF65-F5344CB8AC3E}">
        <p14:creationId xmlns:p14="http://schemas.microsoft.com/office/powerpoint/2010/main" val="244712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DE69B-947A-A13E-64C8-06CBB42B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833437"/>
            <a:ext cx="1008697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66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1734-F243-FF76-0CFC-30392D10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FC52D-F03B-1466-64E1-CBA577DE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</a:t>
            </a:r>
            <a:r>
              <a:rPr lang="en-US" b="1" dirty="0"/>
              <a:t>GRADIO Web App</a:t>
            </a:r>
            <a:r>
              <a:rPr lang="en-US" dirty="0"/>
              <a:t> for real-time predictions.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84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46634-D1F4-F59E-FF66-A14C71FAF526}"/>
              </a:ext>
            </a:extLst>
          </p:cNvPr>
          <p:cNvSpPr txBox="1"/>
          <p:nvPr/>
        </p:nvSpPr>
        <p:spPr>
          <a:xfrm>
            <a:off x="4662819" y="2659559"/>
            <a:ext cx="28663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THANKYOU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045335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8BD99-41E9-467C-9777-74587F83171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8C32A8-E4D9-473C-833A-8950C6E7C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495</TotalTime>
  <Words>430</Words>
  <Application>Microsoft Office PowerPoint</Application>
  <PresentationFormat>Widescreen</PresentationFormat>
  <Paragraphs>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Tw Cen MT</vt:lpstr>
      <vt:lpstr>Circuit</vt:lpstr>
      <vt:lpstr>Predicting Solar Energy Production</vt:lpstr>
      <vt:lpstr>objective</vt:lpstr>
      <vt:lpstr>2. Data Understanding </vt:lpstr>
      <vt:lpstr>Understanding Data Issues: </vt:lpstr>
      <vt:lpstr>Handling missing values</vt:lpstr>
      <vt:lpstr>Handling outliers</vt:lpstr>
      <vt:lpstr>Feature engineering</vt:lpstr>
      <vt:lpstr>Model Building</vt:lpstr>
      <vt:lpstr>Insights:</vt:lpstr>
      <vt:lpstr>PowerPoint Presentation</vt:lpstr>
      <vt:lpstr>Deployment: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gami</dc:creator>
  <cp:lastModifiedBy>Shiva gami</cp:lastModifiedBy>
  <cp:revision>8</cp:revision>
  <dcterms:created xsi:type="dcterms:W3CDTF">2025-10-03T13:06:29Z</dcterms:created>
  <dcterms:modified xsi:type="dcterms:W3CDTF">2025-12-08T15:57:19Z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